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377440"/>
            <a:ext cx="8991295" cy="1463040"/>
          </a:xfrm>
          <a:prstGeom prst="rect">
            <a:avLst/>
          </a:prstGeom>
          <a:noFill/>
        </p:spPr>
        <p:txBody>
          <a:bodyPr wrap="square" anchor="t" lIns="0" rIns="0" tIns="0" bIns="0">
            <a:spAutoFit/>
          </a:bodyPr>
          <a:lstStyle/>
          <a:p>
            <a:pPr algn="l">
              <a:lnSpc>
                <a:spcPct val="110000"/>
              </a:lnSpc>
            </a:pPr>
            <a:r>
              <a:rPr sz="3400" b="1">
                <a:solidFill>
                  <a:srgbClr val="1B2A4A"/>
                </a:solidFill>
                <a:latin typeface="Arial"/>
              </a:rPr>
              <a:t>Renforcement du dispositif de gestion du risque opérationnel</a:t>
            </a:r>
          </a:p>
        </p:txBody>
      </p:sp>
      <p:sp>
        <p:nvSpPr>
          <p:cNvPr id="3" name="TextBox 2"/>
          <p:cNvSpPr txBox="1"/>
          <p:nvPr/>
        </p:nvSpPr>
        <p:spPr>
          <a:xfrm>
            <a:off x="685800" y="3711448"/>
            <a:ext cx="8991295" cy="457200"/>
          </a:xfrm>
          <a:prstGeom prst="rect">
            <a:avLst/>
          </a:prstGeom>
          <a:noFill/>
        </p:spPr>
        <p:txBody>
          <a:bodyPr wrap="square" anchor="t" lIns="0" rIns="0" tIns="0" bIns="0">
            <a:spAutoFit/>
          </a:bodyPr>
          <a:lstStyle/>
          <a:p>
            <a:pPr algn="l">
              <a:lnSpc>
                <a:spcPct val="115000"/>
              </a:lnSpc>
            </a:pPr>
            <a:r>
              <a:rPr sz="1600" b="0">
                <a:solidFill>
                  <a:srgbClr val="1A1A1A"/>
                </a:solidFill>
                <a:latin typeface="Arial"/>
              </a:rPr>
              <a:t>Analyse d'impact et trajectoire de mise en conformité</a:t>
            </a:r>
          </a:p>
        </p:txBody>
      </p:sp>
      <p:sp>
        <p:nvSpPr>
          <p:cNvPr id="4" name="TextBox 3"/>
          <p:cNvSpPr txBox="1"/>
          <p:nvPr/>
        </p:nvSpPr>
        <p:spPr>
          <a:xfrm>
            <a:off x="685800" y="4214368"/>
            <a:ext cx="8991295" cy="365760"/>
          </a:xfrm>
          <a:prstGeom prst="rect">
            <a:avLst/>
          </a:prstGeom>
          <a:noFill/>
        </p:spPr>
        <p:txBody>
          <a:bodyPr wrap="square" anchor="t" lIns="0" rIns="0" tIns="0" bIns="0">
            <a:spAutoFit/>
          </a:bodyPr>
          <a:lstStyle/>
          <a:p>
            <a:pPr algn="l">
              <a:lnSpc>
                <a:spcPct val="115000"/>
              </a:lnSpc>
            </a:pPr>
            <a:r>
              <a:rPr sz="1100" b="0">
                <a:solidFill>
                  <a:srgbClr val="6B7280"/>
                </a:solidFill>
                <a:latin typeface="Arial"/>
              </a:rPr>
              <a:t>Circulaire Bank Al-Maghrib n° 5/W/2022</a:t>
            </a:r>
          </a:p>
        </p:txBody>
      </p:sp>
      <p:sp>
        <p:nvSpPr>
          <p:cNvPr id="5" name="TextBox 4"/>
          <p:cNvSpPr txBox="1"/>
          <p:nvPr/>
        </p:nvSpPr>
        <p:spPr>
          <a:xfrm>
            <a:off x="685800" y="6263640"/>
            <a:ext cx="10820095" cy="320040"/>
          </a:xfrm>
          <a:prstGeom prst="rect">
            <a:avLst/>
          </a:prstGeom>
          <a:noFill/>
        </p:spPr>
        <p:txBody>
          <a:bodyPr wrap="square" anchor="t" lIns="0" rIns="0" tIns="0" bIns="0">
            <a:spAutoFit/>
          </a:bodyPr>
          <a:lstStyle/>
          <a:p>
            <a:pPr algn="l">
              <a:lnSpc>
                <a:spcPct val="115000"/>
              </a:lnSpc>
            </a:pPr>
            <a:r>
              <a:rPr sz="1100" b="0">
                <a:solidFill>
                  <a:srgbClr val="6B7280"/>
                </a:solidFill>
                <a:latin typeface="Arial"/>
              </a:rPr>
              <a:t>Maghreb Universal Bank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2468880"/>
            <a:ext cx="1828800" cy="914400"/>
          </a:xfrm>
          <a:prstGeom prst="rect">
            <a:avLst/>
          </a:prstGeom>
          <a:noFill/>
        </p:spPr>
        <p:txBody>
          <a:bodyPr wrap="square" anchor="t" lIns="0" rIns="0" tIns="0" bIns="0">
            <a:spAutoFit/>
          </a:bodyPr>
          <a:lstStyle/>
          <a:p>
            <a:pPr algn="l">
              <a:lnSpc>
                <a:spcPct val="115000"/>
              </a:lnSpc>
            </a:pPr>
            <a:r>
              <a:rPr sz="4000" b="1">
                <a:solidFill>
                  <a:srgbClr val="FFFFFF"/>
                </a:solidFill>
                <a:latin typeface="Arial"/>
              </a:rPr>
              <a:t>01</a:t>
            </a:r>
          </a:p>
        </p:txBody>
      </p:sp>
      <p:sp>
        <p:nvSpPr>
          <p:cNvPr id="3" name="TextBox 2"/>
          <p:cNvSpPr txBox="1"/>
          <p:nvPr/>
        </p:nvSpPr>
        <p:spPr>
          <a:xfrm>
            <a:off x="685800" y="3337560"/>
            <a:ext cx="9448495" cy="1097280"/>
          </a:xfrm>
          <a:prstGeom prst="rect">
            <a:avLst/>
          </a:prstGeom>
          <a:noFill/>
        </p:spPr>
        <p:txBody>
          <a:bodyPr wrap="square" anchor="t" lIns="0" rIns="0" tIns="0" bIns="0">
            <a:spAutoFit/>
          </a:bodyPr>
          <a:lstStyle/>
          <a:p>
            <a:pPr algn="l">
              <a:lnSpc>
                <a:spcPct val="115000"/>
              </a:lnSpc>
            </a:pPr>
            <a:r>
              <a:rPr sz="2800" b="1">
                <a:solidFill>
                  <a:srgbClr val="FFFFFF"/>
                </a:solidFill>
                <a:latin typeface="Arial"/>
              </a:rPr>
              <a:t>Ce que le texte change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10820095" cy="868680"/>
          </a:xfrm>
          <a:prstGeom prst="rect">
            <a:avLst/>
          </a:prstGeom>
          <a:noFill/>
        </p:spPr>
        <p:txBody>
          <a:bodyPr wrap="square" anchor="t" lIns="0" rIns="0" tIns="0" bIns="0">
            <a:spAutoFit/>
          </a:bodyPr>
          <a:lstStyle/>
          <a:p>
            <a:pPr algn="l">
              <a:lnSpc>
                <a:spcPct val="115000"/>
              </a:lnSpc>
            </a:pPr>
            <a:r>
              <a:rPr sz="2100" b="1">
                <a:solidFill>
                  <a:srgbClr val="1B2A4A"/>
                </a:solidFill>
                <a:latin typeface="Arial"/>
              </a:rPr>
              <a:t>Le texte déplace la charge de la preuve vers la première ligne de défense</a:t>
            </a:r>
          </a:p>
        </p:txBody>
      </p:sp>
      <p:sp>
        <p:nvSpPr>
          <p:cNvPr id="3" name="TextBox 2"/>
          <p:cNvSpPr txBox="1"/>
          <p:nvPr/>
        </p:nvSpPr>
        <p:spPr>
          <a:xfrm>
            <a:off x="685800" y="6355080"/>
            <a:ext cx="9905695" cy="256032"/>
          </a:xfrm>
          <a:prstGeom prst="rect">
            <a:avLst/>
          </a:prstGeom>
          <a:noFill/>
        </p:spPr>
        <p:txBody>
          <a:bodyPr wrap="square" anchor="t" lIns="0" rIns="0" tIns="0" bIns="0">
            <a:spAutoFit/>
          </a:bodyPr>
          <a:lstStyle/>
          <a:p>
            <a:pPr algn="l">
              <a:lnSpc>
                <a:spcPct val="115000"/>
              </a:lnSpc>
            </a:pPr>
            <a:r>
              <a:rPr sz="900" b="0">
                <a:solidFill>
                  <a:srgbClr val="6B7280"/>
                </a:solidFill>
                <a:latin typeface="Arial"/>
              </a:rPr>
              <a:t>Document de travail — diffusion restreinte</a:t>
            </a:r>
          </a:p>
        </p:txBody>
      </p:sp>
      <p:sp>
        <p:nvSpPr>
          <p:cNvPr id="4" name="TextBox 3"/>
          <p:cNvSpPr txBox="1"/>
          <p:nvPr/>
        </p:nvSpPr>
        <p:spPr>
          <a:xfrm>
            <a:off x="10957255" y="6355080"/>
            <a:ext cx="548640" cy="256032"/>
          </a:xfrm>
          <a:prstGeom prst="rect">
            <a:avLst/>
          </a:prstGeom>
          <a:noFill/>
        </p:spPr>
        <p:txBody>
          <a:bodyPr wrap="square" anchor="t" lIns="0" rIns="0" tIns="0" bIns="0">
            <a:spAutoFit/>
          </a:bodyPr>
          <a:lstStyle/>
          <a:p>
            <a:pPr algn="r">
              <a:lnSpc>
                <a:spcPct val="115000"/>
              </a:lnSpc>
            </a:pPr>
            <a:r>
              <a:rPr sz="900" b="0">
                <a:solidFill>
                  <a:srgbClr val="6B7280"/>
                </a:solidFill>
                <a:latin typeface="Arial"/>
              </a:rPr>
              <a:t>3</a:t>
            </a:r>
          </a:p>
        </p:txBody>
      </p:sp>
      <p:sp>
        <p:nvSpPr>
          <p:cNvPr id="5" name="TextBox 4"/>
          <p:cNvSpPr txBox="1"/>
          <p:nvPr/>
        </p:nvSpPr>
        <p:spPr>
          <a:xfrm>
            <a:off x="685800" y="5971032"/>
            <a:ext cx="10820095" cy="274320"/>
          </a:xfrm>
          <a:prstGeom prst="rect">
            <a:avLst/>
          </a:prstGeom>
          <a:noFill/>
        </p:spPr>
        <p:txBody>
          <a:bodyPr wrap="square" anchor="t" lIns="0" rIns="0" tIns="0" bIns="0">
            <a:spAutoFit/>
          </a:bodyPr>
          <a:lstStyle/>
          <a:p>
            <a:pPr algn="l">
              <a:lnSpc>
                <a:spcPct val="115000"/>
              </a:lnSpc>
            </a:pPr>
            <a:r>
              <a:rPr sz="900" b="0">
                <a:solidFill>
                  <a:srgbClr val="6B7280"/>
                </a:solidFill>
                <a:latin typeface="Arial"/>
              </a:rPr>
              <a:t>Source : Circulaire BAM n° 5/W/2022, articles 8 à 14</a:t>
            </a:r>
          </a:p>
        </p:txBody>
      </p:sp>
      <p:sp>
        <p:nvSpPr>
          <p:cNvPr id="6" name="Rectangle 5"/>
          <p:cNvSpPr/>
          <p:nvPr/>
        </p:nvSpPr>
        <p:spPr>
          <a:xfrm>
            <a:off x="685800" y="1773936"/>
            <a:ext cx="91440" cy="9144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8408" y="1691640"/>
            <a:ext cx="10527487" cy="546608"/>
          </a:xfrm>
          <a:prstGeom prst="rect">
            <a:avLst/>
          </a:prstGeom>
          <a:noFill/>
        </p:spPr>
        <p:txBody>
          <a:bodyPr wrap="square" anchor="t" lIns="0" rIns="0" tIns="0" bIns="0">
            <a:spAutoFit/>
          </a:bodyPr>
          <a:lstStyle/>
          <a:p>
            <a:pPr algn="l">
              <a:lnSpc>
                <a:spcPct val="115000"/>
              </a:lnSpc>
            </a:pPr>
            <a:r>
              <a:rPr sz="1400" b="0">
                <a:solidFill>
                  <a:srgbClr val="1A1A1A"/>
                </a:solidFill>
                <a:latin typeface="Arial"/>
              </a:rPr>
              <a:t>Les métiers deviennent responsables de la collecte exhaustive des incidents, sans filtrage préalable par la fonction Risques.</a:t>
            </a:r>
          </a:p>
        </p:txBody>
      </p:sp>
      <p:sp>
        <p:nvSpPr>
          <p:cNvPr id="8" name="Rectangle 7"/>
          <p:cNvSpPr/>
          <p:nvPr/>
        </p:nvSpPr>
        <p:spPr>
          <a:xfrm>
            <a:off x="685800" y="2503424"/>
            <a:ext cx="91440" cy="9144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421128"/>
            <a:ext cx="10527487" cy="546608"/>
          </a:xfrm>
          <a:prstGeom prst="rect">
            <a:avLst/>
          </a:prstGeom>
          <a:noFill/>
        </p:spPr>
        <p:txBody>
          <a:bodyPr wrap="square" anchor="t" lIns="0" rIns="0" tIns="0" bIns="0">
            <a:spAutoFit/>
          </a:bodyPr>
          <a:lstStyle/>
          <a:p>
            <a:pPr algn="l">
              <a:lnSpc>
                <a:spcPct val="115000"/>
              </a:lnSpc>
            </a:pPr>
            <a:r>
              <a:rPr sz="1400" b="0">
                <a:solidFill>
                  <a:srgbClr val="1A1A1A"/>
                </a:solidFill>
                <a:latin typeface="Arial"/>
              </a:rPr>
              <a:t>Le seuil de déclaration obligatoire est abaissé, ce qui élargit mécaniquement l'assiette des incidents à documenter.</a:t>
            </a:r>
          </a:p>
        </p:txBody>
      </p:sp>
      <p:sp>
        <p:nvSpPr>
          <p:cNvPr id="10" name="Rectangle 9"/>
          <p:cNvSpPr/>
          <p:nvPr/>
        </p:nvSpPr>
        <p:spPr>
          <a:xfrm>
            <a:off x="685800" y="3232912"/>
            <a:ext cx="91440" cy="9144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3150616"/>
            <a:ext cx="10527487" cy="319024"/>
          </a:xfrm>
          <a:prstGeom prst="rect">
            <a:avLst/>
          </a:prstGeom>
          <a:noFill/>
        </p:spPr>
        <p:txBody>
          <a:bodyPr wrap="square" anchor="t" lIns="0" rIns="0" tIns="0" bIns="0">
            <a:spAutoFit/>
          </a:bodyPr>
          <a:lstStyle/>
          <a:p>
            <a:pPr algn="l">
              <a:lnSpc>
                <a:spcPct val="115000"/>
              </a:lnSpc>
            </a:pPr>
            <a:r>
              <a:rPr sz="1400" b="0">
                <a:solidFill>
                  <a:srgbClr val="1A1A1A"/>
                </a:solidFill>
                <a:latin typeface="Arial"/>
              </a:rPr>
              <a:t>La fonction Risques conserve la validation méthodologique et la consolidation vers le régulateur.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10820095" cy="868680"/>
          </a:xfrm>
          <a:prstGeom prst="rect">
            <a:avLst/>
          </a:prstGeom>
          <a:noFill/>
        </p:spPr>
        <p:txBody>
          <a:bodyPr wrap="square" anchor="t" lIns="0" rIns="0" tIns="0" bIns="0">
            <a:spAutoFit/>
          </a:bodyPr>
          <a:lstStyle/>
          <a:p>
            <a:pPr algn="l">
              <a:lnSpc>
                <a:spcPct val="115000"/>
              </a:lnSpc>
            </a:pPr>
            <a:r>
              <a:rPr sz="2100" b="1">
                <a:solidFill>
                  <a:srgbClr val="1B2A4A"/>
                </a:solidFill>
                <a:latin typeface="Arial"/>
              </a:rPr>
              <a:t>La notion d'incident significatif est désormais définie par des critères cumulatifs</a:t>
            </a:r>
          </a:p>
        </p:txBody>
      </p:sp>
      <p:sp>
        <p:nvSpPr>
          <p:cNvPr id="3" name="TextBox 2"/>
          <p:cNvSpPr txBox="1"/>
          <p:nvPr/>
        </p:nvSpPr>
        <p:spPr>
          <a:xfrm>
            <a:off x="685800" y="6355080"/>
            <a:ext cx="9905695" cy="256032"/>
          </a:xfrm>
          <a:prstGeom prst="rect">
            <a:avLst/>
          </a:prstGeom>
          <a:noFill/>
        </p:spPr>
        <p:txBody>
          <a:bodyPr wrap="square" anchor="t" lIns="0" rIns="0" tIns="0" bIns="0">
            <a:spAutoFit/>
          </a:bodyPr>
          <a:lstStyle/>
          <a:p>
            <a:pPr algn="l">
              <a:lnSpc>
                <a:spcPct val="115000"/>
              </a:lnSpc>
            </a:pPr>
            <a:r>
              <a:rPr sz="900" b="0">
                <a:solidFill>
                  <a:srgbClr val="6B7280"/>
                </a:solidFill>
                <a:latin typeface="Arial"/>
              </a:rPr>
              <a:t>Document de travail — diffusion restreinte</a:t>
            </a:r>
          </a:p>
        </p:txBody>
      </p:sp>
      <p:sp>
        <p:nvSpPr>
          <p:cNvPr id="4" name="TextBox 3"/>
          <p:cNvSpPr txBox="1"/>
          <p:nvPr/>
        </p:nvSpPr>
        <p:spPr>
          <a:xfrm>
            <a:off x="10957255" y="6355080"/>
            <a:ext cx="548640" cy="256032"/>
          </a:xfrm>
          <a:prstGeom prst="rect">
            <a:avLst/>
          </a:prstGeom>
          <a:noFill/>
        </p:spPr>
        <p:txBody>
          <a:bodyPr wrap="square" anchor="t" lIns="0" rIns="0" tIns="0" bIns="0">
            <a:spAutoFit/>
          </a:bodyPr>
          <a:lstStyle/>
          <a:p>
            <a:pPr algn="r">
              <a:lnSpc>
                <a:spcPct val="115000"/>
              </a:lnSpc>
            </a:pPr>
            <a:r>
              <a:rPr sz="900" b="0">
                <a:solidFill>
                  <a:srgbClr val="6B7280"/>
                </a:solidFill>
                <a:latin typeface="Arial"/>
              </a:rPr>
              <a:t>4</a:t>
            </a:r>
          </a:p>
        </p:txBody>
      </p:sp>
      <p:sp>
        <p:nvSpPr>
          <p:cNvPr id="5" name="Rectangle 4"/>
          <p:cNvSpPr/>
          <p:nvPr/>
        </p:nvSpPr>
        <p:spPr>
          <a:xfrm>
            <a:off x="685800" y="1691640"/>
            <a:ext cx="5135727" cy="1858264"/>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47672"/>
            <a:ext cx="4587087" cy="457200"/>
          </a:xfrm>
          <a:prstGeom prst="rect">
            <a:avLst/>
          </a:prstGeom>
          <a:noFill/>
        </p:spPr>
        <p:txBody>
          <a:bodyPr wrap="square" anchor="t" lIns="0" rIns="0" tIns="0" bIns="0">
            <a:spAutoFit/>
          </a:bodyPr>
          <a:lstStyle/>
          <a:p>
            <a:pPr algn="l">
              <a:lnSpc>
                <a:spcPct val="115000"/>
              </a:lnSpc>
            </a:pPr>
            <a:r>
              <a:rPr sz="1100" b="1">
                <a:solidFill>
                  <a:srgbClr val="1B2A4A"/>
                </a:solidFill>
                <a:latin typeface="Arial"/>
              </a:rPr>
              <a:t>Circulaire BAM n° 5/W/2022, article 12</a:t>
            </a:r>
          </a:p>
        </p:txBody>
      </p:sp>
      <p:sp>
        <p:nvSpPr>
          <p:cNvPr id="7" name="TextBox 6"/>
          <p:cNvSpPr txBox="1"/>
          <p:nvPr/>
        </p:nvSpPr>
        <p:spPr>
          <a:xfrm>
            <a:off x="960120" y="2468880"/>
            <a:ext cx="4587087" cy="852424"/>
          </a:xfrm>
          <a:prstGeom prst="rect">
            <a:avLst/>
          </a:prstGeom>
          <a:noFill/>
        </p:spPr>
        <p:txBody>
          <a:bodyPr wrap="square" anchor="t" lIns="0" rIns="0" tIns="0" bIns="0">
            <a:spAutoFit/>
          </a:bodyPr>
          <a:lstStyle/>
          <a:p>
            <a:pPr algn="l">
              <a:lnSpc>
                <a:spcPct val="115000"/>
              </a:lnSpc>
            </a:pPr>
            <a:r>
              <a:rPr sz="1100" b="0">
                <a:solidFill>
                  <a:srgbClr val="1A1A1A"/>
                </a:solidFill>
                <a:latin typeface="Arial"/>
              </a:rPr>
              <a:t>« Est réputé significatif tout incident opérationnel dont la perte brute excède le seuil fixé par l'établissement, ou dont les effets affectent la continuité d'un service essentiel pendant plus de deux heures. »</a:t>
            </a:r>
          </a:p>
        </p:txBody>
      </p:sp>
      <p:sp>
        <p:nvSpPr>
          <p:cNvPr id="8" name="TextBox 7"/>
          <p:cNvSpPr txBox="1"/>
          <p:nvPr/>
        </p:nvSpPr>
        <p:spPr>
          <a:xfrm>
            <a:off x="6370167" y="1691640"/>
            <a:ext cx="5135727" cy="320040"/>
          </a:xfrm>
          <a:prstGeom prst="rect">
            <a:avLst/>
          </a:prstGeom>
          <a:noFill/>
        </p:spPr>
        <p:txBody>
          <a:bodyPr wrap="square" anchor="t" lIns="0" rIns="0" tIns="0" bIns="0">
            <a:spAutoFit/>
          </a:bodyPr>
          <a:lstStyle/>
          <a:p>
            <a:pPr algn="l">
              <a:lnSpc>
                <a:spcPct val="115000"/>
              </a:lnSpc>
            </a:pPr>
            <a:r>
              <a:rPr sz="1100" b="1">
                <a:solidFill>
                  <a:srgbClr val="6B7280"/>
                </a:solidFill>
                <a:latin typeface="Arial"/>
              </a:rPr>
              <a:t>Lecture</a:t>
            </a:r>
          </a:p>
        </p:txBody>
      </p:sp>
      <p:sp>
        <p:nvSpPr>
          <p:cNvPr id="9" name="Rectangle 8"/>
          <p:cNvSpPr/>
          <p:nvPr/>
        </p:nvSpPr>
        <p:spPr>
          <a:xfrm>
            <a:off x="6370167" y="2231136"/>
            <a:ext cx="91440" cy="9144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62775" y="2148840"/>
            <a:ext cx="4843119" cy="774192"/>
          </a:xfrm>
          <a:prstGeom prst="rect">
            <a:avLst/>
          </a:prstGeom>
          <a:noFill/>
        </p:spPr>
        <p:txBody>
          <a:bodyPr wrap="square" anchor="t" lIns="0" rIns="0" tIns="0" bIns="0">
            <a:spAutoFit/>
          </a:bodyPr>
          <a:lstStyle/>
          <a:p>
            <a:pPr algn="l">
              <a:lnSpc>
                <a:spcPct val="115000"/>
              </a:lnSpc>
            </a:pPr>
            <a:r>
              <a:rPr sz="1400" b="0">
                <a:solidFill>
                  <a:srgbClr val="1A1A1A"/>
                </a:solidFill>
                <a:latin typeface="Arial"/>
              </a:rPr>
              <a:t>Le seuil interne devient un paramètre réglementaire opposable, à faire valider par le comité des risques.</a:t>
            </a:r>
          </a:p>
        </p:txBody>
      </p:sp>
      <p:sp>
        <p:nvSpPr>
          <p:cNvPr id="11" name="Rectangle 10"/>
          <p:cNvSpPr/>
          <p:nvPr/>
        </p:nvSpPr>
        <p:spPr>
          <a:xfrm>
            <a:off x="6370167" y="3188207"/>
            <a:ext cx="91440" cy="9144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62775" y="3105912"/>
            <a:ext cx="4843119" cy="546608"/>
          </a:xfrm>
          <a:prstGeom prst="rect">
            <a:avLst/>
          </a:prstGeom>
          <a:noFill/>
        </p:spPr>
        <p:txBody>
          <a:bodyPr wrap="square" anchor="t" lIns="0" rIns="0" tIns="0" bIns="0">
            <a:spAutoFit/>
          </a:bodyPr>
          <a:lstStyle/>
          <a:p>
            <a:pPr algn="l">
              <a:lnSpc>
                <a:spcPct val="115000"/>
              </a:lnSpc>
            </a:pPr>
            <a:r>
              <a:rPr sz="1400" b="0">
                <a:solidFill>
                  <a:srgbClr val="1A1A1A"/>
                </a:solidFill>
                <a:latin typeface="Arial"/>
              </a:rPr>
              <a:t>La mesure de l'indisponibilité impose un horodatage fiable des incidents SI.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2468880"/>
            <a:ext cx="1828800" cy="914400"/>
          </a:xfrm>
          <a:prstGeom prst="rect">
            <a:avLst/>
          </a:prstGeom>
          <a:noFill/>
        </p:spPr>
        <p:txBody>
          <a:bodyPr wrap="square" anchor="t" lIns="0" rIns="0" tIns="0" bIns="0">
            <a:spAutoFit/>
          </a:bodyPr>
          <a:lstStyle/>
          <a:p>
            <a:pPr algn="l">
              <a:lnSpc>
                <a:spcPct val="115000"/>
              </a:lnSpc>
            </a:pPr>
            <a:r>
              <a:rPr sz="4000" b="1">
                <a:solidFill>
                  <a:srgbClr val="FFFFFF"/>
                </a:solidFill>
                <a:latin typeface="Arial"/>
              </a:rPr>
              <a:t>02</a:t>
            </a:r>
          </a:p>
        </p:txBody>
      </p:sp>
      <p:sp>
        <p:nvSpPr>
          <p:cNvPr id="3" name="TextBox 2"/>
          <p:cNvSpPr txBox="1"/>
          <p:nvPr/>
        </p:nvSpPr>
        <p:spPr>
          <a:xfrm>
            <a:off x="685800" y="3337560"/>
            <a:ext cx="9448495" cy="1097280"/>
          </a:xfrm>
          <a:prstGeom prst="rect">
            <a:avLst/>
          </a:prstGeom>
          <a:noFill/>
        </p:spPr>
        <p:txBody>
          <a:bodyPr wrap="square" anchor="t" lIns="0" rIns="0" tIns="0" bIns="0">
            <a:spAutoFit/>
          </a:bodyPr>
          <a:lstStyle/>
          <a:p>
            <a:pPr algn="l">
              <a:lnSpc>
                <a:spcPct val="115000"/>
              </a:lnSpc>
            </a:pPr>
            <a:r>
              <a:rPr sz="2800" b="1">
                <a:solidFill>
                  <a:srgbClr val="FFFFFF"/>
                </a:solidFill>
                <a:latin typeface="Arial"/>
              </a:rPr>
              <a:t>Impacts sur le dispositif actuel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10820095" cy="868680"/>
          </a:xfrm>
          <a:prstGeom prst="rect">
            <a:avLst/>
          </a:prstGeom>
          <a:noFill/>
        </p:spPr>
        <p:txBody>
          <a:bodyPr wrap="square" anchor="t" lIns="0" rIns="0" tIns="0" bIns="0">
            <a:spAutoFit/>
          </a:bodyPr>
          <a:lstStyle/>
          <a:p>
            <a:pPr algn="l">
              <a:lnSpc>
                <a:spcPct val="115000"/>
              </a:lnSpc>
            </a:pPr>
            <a:r>
              <a:rPr sz="2100" b="1">
                <a:solidFill>
                  <a:srgbClr val="1B2A4A"/>
                </a:solidFill>
                <a:latin typeface="Arial"/>
              </a:rPr>
              <a:t>Quatre chantiers conditionnent la conformité à l'échéance</a:t>
            </a:r>
          </a:p>
        </p:txBody>
      </p:sp>
      <p:sp>
        <p:nvSpPr>
          <p:cNvPr id="3" name="TextBox 2"/>
          <p:cNvSpPr txBox="1"/>
          <p:nvPr/>
        </p:nvSpPr>
        <p:spPr>
          <a:xfrm>
            <a:off x="685800" y="6355080"/>
            <a:ext cx="9905695" cy="256032"/>
          </a:xfrm>
          <a:prstGeom prst="rect">
            <a:avLst/>
          </a:prstGeom>
          <a:noFill/>
        </p:spPr>
        <p:txBody>
          <a:bodyPr wrap="square" anchor="t" lIns="0" rIns="0" tIns="0" bIns="0">
            <a:spAutoFit/>
          </a:bodyPr>
          <a:lstStyle/>
          <a:p>
            <a:pPr algn="l">
              <a:lnSpc>
                <a:spcPct val="115000"/>
              </a:lnSpc>
            </a:pPr>
            <a:r>
              <a:rPr sz="900" b="0">
                <a:solidFill>
                  <a:srgbClr val="6B7280"/>
                </a:solidFill>
                <a:latin typeface="Arial"/>
              </a:rPr>
              <a:t>Document de travail — diffusion restreinte</a:t>
            </a:r>
          </a:p>
        </p:txBody>
      </p:sp>
      <p:sp>
        <p:nvSpPr>
          <p:cNvPr id="4" name="TextBox 3"/>
          <p:cNvSpPr txBox="1"/>
          <p:nvPr/>
        </p:nvSpPr>
        <p:spPr>
          <a:xfrm>
            <a:off x="10957255" y="6355080"/>
            <a:ext cx="548640" cy="256032"/>
          </a:xfrm>
          <a:prstGeom prst="rect">
            <a:avLst/>
          </a:prstGeom>
          <a:noFill/>
        </p:spPr>
        <p:txBody>
          <a:bodyPr wrap="square" anchor="t" lIns="0" rIns="0" tIns="0" bIns="0">
            <a:spAutoFit/>
          </a:bodyPr>
          <a:lstStyle/>
          <a:p>
            <a:pPr algn="r">
              <a:lnSpc>
                <a:spcPct val="115000"/>
              </a:lnSpc>
            </a:pPr>
            <a:r>
              <a:rPr sz="900" b="0">
                <a:solidFill>
                  <a:srgbClr val="6B7280"/>
                </a:solidFill>
                <a:latin typeface="Arial"/>
              </a:rPr>
              <a:t>6</a:t>
            </a:r>
          </a:p>
        </p:txBody>
      </p:sp>
      <p:sp>
        <p:nvSpPr>
          <p:cNvPr id="5" name="TextBox 4"/>
          <p:cNvSpPr txBox="1"/>
          <p:nvPr/>
        </p:nvSpPr>
        <p:spPr>
          <a:xfrm>
            <a:off x="685800" y="5971032"/>
            <a:ext cx="10820095" cy="274320"/>
          </a:xfrm>
          <a:prstGeom prst="rect">
            <a:avLst/>
          </a:prstGeom>
          <a:noFill/>
        </p:spPr>
        <p:txBody>
          <a:bodyPr wrap="square" anchor="t" lIns="0" rIns="0" tIns="0" bIns="0">
            <a:spAutoFit/>
          </a:bodyPr>
          <a:lstStyle/>
          <a:p>
            <a:pPr algn="l">
              <a:lnSpc>
                <a:spcPct val="115000"/>
              </a:lnSpc>
            </a:pPr>
            <a:r>
              <a:rPr sz="900" b="0">
                <a:solidFill>
                  <a:srgbClr val="6B7280"/>
                </a:solidFill>
                <a:latin typeface="Arial"/>
              </a:rPr>
              <a:t>Source : Analyse BFS Consulting</a:t>
            </a:r>
          </a:p>
        </p:txBody>
      </p:sp>
      <p:graphicFrame>
        <p:nvGraphicFramePr>
          <p:cNvPr id="6" name="Table 5"/>
          <p:cNvGraphicFramePr>
            <a:graphicFrameLocks noGrp="1"/>
          </p:cNvGraphicFramePr>
          <p:nvPr/>
        </p:nvGraphicFramePr>
        <p:xfrm>
          <a:off x="685800" y="1691640"/>
          <a:ext cx="10789920" cy="2377440"/>
        </p:xfrm>
        <a:graphic>
          <a:graphicData uri="http://schemas.openxmlformats.org/drawingml/2006/table">
            <a:tbl>
              <a:tblPr firstRow="1" bandRow="1">
                <a:tableStyleId>{5C22544A-7EE6-4342-B048-85BDC9FD1C3A}</a:tableStyleId>
              </a:tblPr>
              <a:tblGrid>
                <a:gridCol w="2926080"/>
                <a:gridCol w="4754880"/>
                <a:gridCol w="1737360"/>
                <a:gridCol w="1371600"/>
              </a:tblGrid>
              <a:tr h="475488">
                <a:tc>
                  <a:txBody>
                    <a:bodyPr/>
                    <a:lstStyle/>
                    <a:p>
                      <a:r>
                        <a:rPr sz="1100" b="1">
                          <a:solidFill>
                            <a:srgbClr val="FFFFFF"/>
                          </a:solidFill>
                          <a:latin typeface="Arial"/>
                        </a:rPr>
                        <a:t>Exigence</a:t>
                      </a:r>
                    </a:p>
                  </a:txBody>
                  <a:tcPr marL="91440" marR="91440" marT="54864" marB="54864" anchor="ctr">
                    <a:solidFill>
                      <a:srgbClr val="1B2A4A"/>
                    </a:solidFill>
                  </a:tcPr>
                </a:tc>
                <a:tc>
                  <a:txBody>
                    <a:bodyPr/>
                    <a:lstStyle/>
                    <a:p>
                      <a:r>
                        <a:rPr sz="1100" b="1">
                          <a:solidFill>
                            <a:srgbClr val="FFFFFF"/>
                          </a:solidFill>
                          <a:latin typeface="Arial"/>
                        </a:rPr>
                        <a:t>Impact</a:t>
                      </a:r>
                    </a:p>
                  </a:txBody>
                  <a:tcPr marL="91440" marR="91440" marT="54864" marB="54864" anchor="ctr">
                    <a:solidFill>
                      <a:srgbClr val="1B2A4A"/>
                    </a:solidFill>
                  </a:tcPr>
                </a:tc>
                <a:tc>
                  <a:txBody>
                    <a:bodyPr/>
                    <a:lstStyle/>
                    <a:p>
                      <a:r>
                        <a:rPr sz="1100" b="1">
                          <a:solidFill>
                            <a:srgbClr val="FFFFFF"/>
                          </a:solidFill>
                          <a:latin typeface="Arial"/>
                        </a:rPr>
                        <a:t>Entité</a:t>
                      </a:r>
                    </a:p>
                  </a:txBody>
                  <a:tcPr marL="91440" marR="91440" marT="54864" marB="54864" anchor="ctr">
                    <a:solidFill>
                      <a:srgbClr val="1B2A4A"/>
                    </a:solidFill>
                  </a:tcPr>
                </a:tc>
                <a:tc>
                  <a:txBody>
                    <a:bodyPr/>
                    <a:lstStyle/>
                    <a:p>
                      <a:r>
                        <a:rPr sz="1100" b="1">
                          <a:solidFill>
                            <a:srgbClr val="FFFFFF"/>
                          </a:solidFill>
                          <a:latin typeface="Arial"/>
                        </a:rPr>
                        <a:t>Criticité</a:t>
                      </a:r>
                    </a:p>
                  </a:txBody>
                  <a:tcPr marL="91440" marR="91440" marT="54864" marB="54864" anchor="ctr">
                    <a:solidFill>
                      <a:srgbClr val="1B2A4A"/>
                    </a:solidFill>
                  </a:tcPr>
                </a:tc>
              </a:tr>
              <a:tr h="475488">
                <a:tc>
                  <a:txBody>
                    <a:bodyPr/>
                    <a:lstStyle/>
                    <a:p>
                      <a:r>
                        <a:rPr sz="1100" b="0">
                          <a:solidFill>
                            <a:srgbClr val="1A1A1A"/>
                          </a:solidFill>
                          <a:latin typeface="Arial"/>
                        </a:rPr>
                        <a:t>Collecte décentralisée</a:t>
                      </a:r>
                    </a:p>
                  </a:txBody>
                  <a:tcPr marL="91440" marR="91440" marT="54864" marB="54864" anchor="ctr">
                    <a:solidFill>
                      <a:srgbClr val="FFFFFF"/>
                    </a:solidFill>
                  </a:tcPr>
                </a:tc>
                <a:tc>
                  <a:txBody>
                    <a:bodyPr/>
                    <a:lstStyle/>
                    <a:p>
                      <a:r>
                        <a:rPr sz="1100" b="0">
                          <a:solidFill>
                            <a:srgbClr val="1A1A1A"/>
                          </a:solidFill>
                          <a:latin typeface="Arial"/>
                        </a:rPr>
                        <a:t>Désigner et former des correspondants incidents dans chaque métier</a:t>
                      </a:r>
                    </a:p>
                  </a:txBody>
                  <a:tcPr marL="91440" marR="91440" marT="54864" marB="54864" anchor="ctr">
                    <a:solidFill>
                      <a:srgbClr val="FFFFFF"/>
                    </a:solidFill>
                  </a:tcPr>
                </a:tc>
                <a:tc>
                  <a:txBody>
                    <a:bodyPr/>
                    <a:lstStyle/>
                    <a:p>
                      <a:r>
                        <a:rPr sz="1100" b="0">
                          <a:solidFill>
                            <a:srgbClr val="1A1A1A"/>
                          </a:solidFill>
                          <a:latin typeface="Arial"/>
                        </a:rPr>
                        <a:t>Risques / RH</a:t>
                      </a:r>
                    </a:p>
                  </a:txBody>
                  <a:tcPr marL="91440" marR="91440" marT="54864" marB="54864" anchor="ctr">
                    <a:solidFill>
                      <a:srgbClr val="FFFFFF"/>
                    </a:solidFill>
                  </a:tcPr>
                </a:tc>
                <a:tc>
                  <a:txBody>
                    <a:bodyPr/>
                    <a:lstStyle/>
                    <a:p>
                      <a:r>
                        <a:rPr sz="1100" b="1">
                          <a:solidFill>
                            <a:srgbClr val="C8102E"/>
                          </a:solidFill>
                          <a:latin typeface="Arial"/>
                        </a:rPr>
                        <a:t>Élevée</a:t>
                      </a:r>
                    </a:p>
                  </a:txBody>
                  <a:tcPr marL="91440" marR="91440" marT="54864" marB="54864" anchor="ctr">
                    <a:solidFill>
                      <a:srgbClr val="FFFFFF"/>
                    </a:solidFill>
                  </a:tcPr>
                </a:tc>
              </a:tr>
              <a:tr h="475488">
                <a:tc>
                  <a:txBody>
                    <a:bodyPr/>
                    <a:lstStyle/>
                    <a:p>
                      <a:r>
                        <a:rPr sz="1100" b="0">
                          <a:solidFill>
                            <a:srgbClr val="1A1A1A"/>
                          </a:solidFill>
                          <a:latin typeface="Arial"/>
                        </a:rPr>
                        <a:t>Seuil de significativité</a:t>
                      </a:r>
                    </a:p>
                  </a:txBody>
                  <a:tcPr marL="91440" marR="91440" marT="54864" marB="54864" anchor="ctr">
                    <a:solidFill>
                      <a:srgbClr val="F4F5F7"/>
                    </a:solidFill>
                  </a:tcPr>
                </a:tc>
                <a:tc>
                  <a:txBody>
                    <a:bodyPr/>
                    <a:lstStyle/>
                    <a:p>
                      <a:r>
                        <a:rPr sz="1100" b="0">
                          <a:solidFill>
                            <a:srgbClr val="1A1A1A"/>
                          </a:solidFill>
                          <a:latin typeface="Arial"/>
                        </a:rPr>
                        <a:t>Faire valider le seuil interne par le comité des risques</a:t>
                      </a:r>
                    </a:p>
                  </a:txBody>
                  <a:tcPr marL="91440" marR="91440" marT="54864" marB="54864" anchor="ctr">
                    <a:solidFill>
                      <a:srgbClr val="F4F5F7"/>
                    </a:solidFill>
                  </a:tcPr>
                </a:tc>
                <a:tc>
                  <a:txBody>
                    <a:bodyPr/>
                    <a:lstStyle/>
                    <a:p>
                      <a:r>
                        <a:rPr sz="1100" b="0">
                          <a:solidFill>
                            <a:srgbClr val="1A1A1A"/>
                          </a:solidFill>
                          <a:latin typeface="Arial"/>
                        </a:rPr>
                        <a:t>Comité des risques</a:t>
                      </a:r>
                    </a:p>
                  </a:txBody>
                  <a:tcPr marL="91440" marR="91440" marT="54864" marB="54864" anchor="ctr">
                    <a:solidFill>
                      <a:srgbClr val="F4F5F7"/>
                    </a:solidFill>
                  </a:tcPr>
                </a:tc>
                <a:tc>
                  <a:txBody>
                    <a:bodyPr/>
                    <a:lstStyle/>
                    <a:p>
                      <a:r>
                        <a:rPr sz="1100" b="1">
                          <a:solidFill>
                            <a:srgbClr val="B87503"/>
                          </a:solidFill>
                          <a:latin typeface="Arial"/>
                        </a:rPr>
                        <a:t>Moyenne</a:t>
                      </a:r>
                    </a:p>
                  </a:txBody>
                  <a:tcPr marL="91440" marR="91440" marT="54864" marB="54864" anchor="ctr">
                    <a:solidFill>
                      <a:srgbClr val="F4F5F7"/>
                    </a:solidFill>
                  </a:tcPr>
                </a:tc>
              </a:tr>
              <a:tr h="475488">
                <a:tc>
                  <a:txBody>
                    <a:bodyPr/>
                    <a:lstStyle/>
                    <a:p>
                      <a:r>
                        <a:rPr sz="1100" b="0">
                          <a:solidFill>
                            <a:srgbClr val="1A1A1A"/>
                          </a:solidFill>
                          <a:latin typeface="Arial"/>
                        </a:rPr>
                        <a:t>Horodatage des incidents SI</a:t>
                      </a:r>
                    </a:p>
                  </a:txBody>
                  <a:tcPr marL="91440" marR="91440" marT="54864" marB="54864" anchor="ctr">
                    <a:solidFill>
                      <a:srgbClr val="FFFFFF"/>
                    </a:solidFill>
                  </a:tcPr>
                </a:tc>
                <a:tc>
                  <a:txBody>
                    <a:bodyPr/>
                    <a:lstStyle/>
                    <a:p>
                      <a:r>
                        <a:rPr sz="1100" b="0">
                          <a:solidFill>
                            <a:srgbClr val="1A1A1A"/>
                          </a:solidFill>
                          <a:latin typeface="Arial"/>
                        </a:rPr>
                        <a:t>Raccorder la supervision technique à la base incidents</a:t>
                      </a:r>
                    </a:p>
                  </a:txBody>
                  <a:tcPr marL="91440" marR="91440" marT="54864" marB="54864" anchor="ctr">
                    <a:solidFill>
                      <a:srgbClr val="FFFFFF"/>
                    </a:solidFill>
                  </a:tcPr>
                </a:tc>
                <a:tc>
                  <a:txBody>
                    <a:bodyPr/>
                    <a:lstStyle/>
                    <a:p>
                      <a:r>
                        <a:rPr sz="1100" b="0">
                          <a:solidFill>
                            <a:srgbClr val="1A1A1A"/>
                          </a:solidFill>
                          <a:latin typeface="Arial"/>
                        </a:rPr>
                        <a:t>DSI</a:t>
                      </a:r>
                    </a:p>
                  </a:txBody>
                  <a:tcPr marL="91440" marR="91440" marT="54864" marB="54864" anchor="ctr">
                    <a:solidFill>
                      <a:srgbClr val="FFFFFF"/>
                    </a:solidFill>
                  </a:tcPr>
                </a:tc>
                <a:tc>
                  <a:txBody>
                    <a:bodyPr/>
                    <a:lstStyle/>
                    <a:p>
                      <a:r>
                        <a:rPr sz="1100" b="1">
                          <a:solidFill>
                            <a:srgbClr val="C8102E"/>
                          </a:solidFill>
                          <a:latin typeface="Arial"/>
                        </a:rPr>
                        <a:t>Élevée</a:t>
                      </a:r>
                    </a:p>
                  </a:txBody>
                  <a:tcPr marL="91440" marR="91440" marT="54864" marB="54864" anchor="ctr">
                    <a:solidFill>
                      <a:srgbClr val="FFFFFF"/>
                    </a:solidFill>
                  </a:tcPr>
                </a:tc>
              </a:tr>
              <a:tr h="475488">
                <a:tc>
                  <a:txBody>
                    <a:bodyPr/>
                    <a:lstStyle/>
                    <a:p>
                      <a:r>
                        <a:rPr sz="1100" b="0">
                          <a:solidFill>
                            <a:srgbClr val="1A1A1A"/>
                          </a:solidFill>
                          <a:latin typeface="Arial"/>
                        </a:rPr>
                        <a:t>Reporting régulateur</a:t>
                      </a:r>
                    </a:p>
                  </a:txBody>
                  <a:tcPr marL="91440" marR="91440" marT="54864" marB="54864" anchor="ctr">
                    <a:solidFill>
                      <a:srgbClr val="F4F5F7"/>
                    </a:solidFill>
                  </a:tcPr>
                </a:tc>
                <a:tc>
                  <a:txBody>
                    <a:bodyPr/>
                    <a:lstStyle/>
                    <a:p>
                      <a:r>
                        <a:rPr sz="1100" b="0">
                          <a:solidFill>
                            <a:srgbClr val="1A1A1A"/>
                          </a:solidFill>
                          <a:latin typeface="Arial"/>
                        </a:rPr>
                        <a:t>Adapter le format de remontée trimestrielle</a:t>
                      </a:r>
                    </a:p>
                  </a:txBody>
                  <a:tcPr marL="91440" marR="91440" marT="54864" marB="54864" anchor="ctr">
                    <a:solidFill>
                      <a:srgbClr val="F4F5F7"/>
                    </a:solidFill>
                  </a:tcPr>
                </a:tc>
                <a:tc>
                  <a:txBody>
                    <a:bodyPr/>
                    <a:lstStyle/>
                    <a:p>
                      <a:r>
                        <a:rPr sz="1100" b="0">
                          <a:solidFill>
                            <a:srgbClr val="1A1A1A"/>
                          </a:solidFill>
                          <a:latin typeface="Arial"/>
                        </a:rPr>
                        <a:t>Conformité</a:t>
                      </a:r>
                    </a:p>
                  </a:txBody>
                  <a:tcPr marL="91440" marR="91440" marT="54864" marB="54864" anchor="ctr">
                    <a:solidFill>
                      <a:srgbClr val="F4F5F7"/>
                    </a:solidFill>
                  </a:tcPr>
                </a:tc>
                <a:tc>
                  <a:txBody>
                    <a:bodyPr/>
                    <a:lstStyle/>
                    <a:p>
                      <a:r>
                        <a:rPr sz="1100" b="1">
                          <a:solidFill>
                            <a:srgbClr val="6B7280"/>
                          </a:solidFill>
                          <a:latin typeface="Arial"/>
                        </a:rPr>
                        <a:t>Faible</a:t>
                      </a:r>
                    </a:p>
                  </a:txBody>
                  <a:tcPr marL="91440" marR="91440" marT="54864" marB="54864" anchor="ctr">
                    <a:solidFill>
                      <a:srgbClr val="F4F5F7"/>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10820095" cy="868680"/>
          </a:xfrm>
          <a:prstGeom prst="rect">
            <a:avLst/>
          </a:prstGeom>
          <a:noFill/>
        </p:spPr>
        <p:txBody>
          <a:bodyPr wrap="square" anchor="t" lIns="0" rIns="0" tIns="0" bIns="0">
            <a:spAutoFit/>
          </a:bodyPr>
          <a:lstStyle/>
          <a:p>
            <a:pPr algn="l">
              <a:lnSpc>
                <a:spcPct val="115000"/>
              </a:lnSpc>
            </a:pPr>
            <a:r>
              <a:rPr sz="2100" b="1">
                <a:solidFill>
                  <a:srgbClr val="1B2A4A"/>
                </a:solidFill>
                <a:latin typeface="Arial"/>
              </a:rPr>
              <a:t>L'effort porte d'abord sur la couverture organisationnelle</a:t>
            </a:r>
          </a:p>
        </p:txBody>
      </p:sp>
      <p:sp>
        <p:nvSpPr>
          <p:cNvPr id="3" name="TextBox 2"/>
          <p:cNvSpPr txBox="1"/>
          <p:nvPr/>
        </p:nvSpPr>
        <p:spPr>
          <a:xfrm>
            <a:off x="685800" y="6355080"/>
            <a:ext cx="9905695" cy="256032"/>
          </a:xfrm>
          <a:prstGeom prst="rect">
            <a:avLst/>
          </a:prstGeom>
          <a:noFill/>
        </p:spPr>
        <p:txBody>
          <a:bodyPr wrap="square" anchor="t" lIns="0" rIns="0" tIns="0" bIns="0">
            <a:spAutoFit/>
          </a:bodyPr>
          <a:lstStyle/>
          <a:p>
            <a:pPr algn="l">
              <a:lnSpc>
                <a:spcPct val="115000"/>
              </a:lnSpc>
            </a:pPr>
            <a:r>
              <a:rPr sz="900" b="0">
                <a:solidFill>
                  <a:srgbClr val="6B7280"/>
                </a:solidFill>
                <a:latin typeface="Arial"/>
              </a:rPr>
              <a:t>Document de travail — diffusion restreinte</a:t>
            </a:r>
          </a:p>
        </p:txBody>
      </p:sp>
      <p:sp>
        <p:nvSpPr>
          <p:cNvPr id="4" name="TextBox 3"/>
          <p:cNvSpPr txBox="1"/>
          <p:nvPr/>
        </p:nvSpPr>
        <p:spPr>
          <a:xfrm>
            <a:off x="10957255" y="6355080"/>
            <a:ext cx="548640" cy="256032"/>
          </a:xfrm>
          <a:prstGeom prst="rect">
            <a:avLst/>
          </a:prstGeom>
          <a:noFill/>
        </p:spPr>
        <p:txBody>
          <a:bodyPr wrap="square" anchor="t" lIns="0" rIns="0" tIns="0" bIns="0">
            <a:spAutoFit/>
          </a:bodyPr>
          <a:lstStyle/>
          <a:p>
            <a:pPr algn="r">
              <a:lnSpc>
                <a:spcPct val="115000"/>
              </a:lnSpc>
            </a:pPr>
            <a:r>
              <a:rPr sz="900" b="0">
                <a:solidFill>
                  <a:srgbClr val="6B7280"/>
                </a:solidFill>
                <a:latin typeface="Arial"/>
              </a:rPr>
              <a:t>7</a:t>
            </a:r>
          </a:p>
        </p:txBody>
      </p:sp>
      <p:sp>
        <p:nvSpPr>
          <p:cNvPr id="5" name="TextBox 4"/>
          <p:cNvSpPr txBox="1"/>
          <p:nvPr/>
        </p:nvSpPr>
        <p:spPr>
          <a:xfrm>
            <a:off x="685800" y="5971032"/>
            <a:ext cx="10820095" cy="274320"/>
          </a:xfrm>
          <a:prstGeom prst="rect">
            <a:avLst/>
          </a:prstGeom>
          <a:noFill/>
        </p:spPr>
        <p:txBody>
          <a:bodyPr wrap="square" anchor="t" lIns="0" rIns="0" tIns="0" bIns="0">
            <a:spAutoFit/>
          </a:bodyPr>
          <a:lstStyle/>
          <a:p>
            <a:pPr algn="l">
              <a:lnSpc>
                <a:spcPct val="115000"/>
              </a:lnSpc>
            </a:pPr>
            <a:r>
              <a:rPr sz="900" b="0">
                <a:solidFill>
                  <a:srgbClr val="6B7280"/>
                </a:solidFill>
                <a:latin typeface="Arial"/>
              </a:rPr>
              <a:t>Source : Analyse BFS Consulting</a:t>
            </a:r>
          </a:p>
        </p:txBody>
      </p:sp>
      <p:sp>
        <p:nvSpPr>
          <p:cNvPr id="6" name="TextBox 5"/>
          <p:cNvSpPr txBox="1"/>
          <p:nvPr/>
        </p:nvSpPr>
        <p:spPr>
          <a:xfrm>
            <a:off x="685800" y="2331720"/>
            <a:ext cx="3301898" cy="1005840"/>
          </a:xfrm>
          <a:prstGeom prst="rect">
            <a:avLst/>
          </a:prstGeom>
          <a:noFill/>
        </p:spPr>
        <p:txBody>
          <a:bodyPr wrap="square" anchor="t" lIns="0" rIns="0" tIns="0" bIns="0">
            <a:spAutoFit/>
          </a:bodyPr>
          <a:lstStyle/>
          <a:p>
            <a:pPr algn="l">
              <a:lnSpc>
                <a:spcPct val="115000"/>
              </a:lnSpc>
            </a:pPr>
            <a:r>
              <a:rPr sz="4800" b="1">
                <a:solidFill>
                  <a:srgbClr val="C8102E"/>
                </a:solidFill>
                <a:latin typeface="Arial"/>
              </a:rPr>
              <a:t>18</a:t>
            </a:r>
          </a:p>
        </p:txBody>
      </p:sp>
      <p:sp>
        <p:nvSpPr>
          <p:cNvPr id="7" name="TextBox 6"/>
          <p:cNvSpPr txBox="1"/>
          <p:nvPr/>
        </p:nvSpPr>
        <p:spPr>
          <a:xfrm>
            <a:off x="685800" y="3429000"/>
            <a:ext cx="3301898" cy="822960"/>
          </a:xfrm>
          <a:prstGeom prst="rect">
            <a:avLst/>
          </a:prstGeom>
          <a:noFill/>
        </p:spPr>
        <p:txBody>
          <a:bodyPr wrap="square" anchor="t" lIns="0" rIns="0" tIns="0" bIns="0">
            <a:spAutoFit/>
          </a:bodyPr>
          <a:lstStyle/>
          <a:p>
            <a:pPr algn="l">
              <a:lnSpc>
                <a:spcPct val="115000"/>
              </a:lnSpc>
            </a:pPr>
            <a:r>
              <a:rPr sz="1400" b="0">
                <a:solidFill>
                  <a:srgbClr val="1A1A1A"/>
                </a:solidFill>
                <a:latin typeface="Arial"/>
              </a:rPr>
              <a:t>mois pour atteindre la conformité pleine</a:t>
            </a:r>
          </a:p>
        </p:txBody>
      </p:sp>
      <p:sp>
        <p:nvSpPr>
          <p:cNvPr id="8" name="TextBox 7"/>
          <p:cNvSpPr txBox="1"/>
          <p:nvPr/>
        </p:nvSpPr>
        <p:spPr>
          <a:xfrm>
            <a:off x="4444898" y="2331720"/>
            <a:ext cx="3301898" cy="1005840"/>
          </a:xfrm>
          <a:prstGeom prst="rect">
            <a:avLst/>
          </a:prstGeom>
          <a:noFill/>
        </p:spPr>
        <p:txBody>
          <a:bodyPr wrap="square" anchor="t" lIns="0" rIns="0" tIns="0" bIns="0">
            <a:spAutoFit/>
          </a:bodyPr>
          <a:lstStyle/>
          <a:p>
            <a:pPr algn="l">
              <a:lnSpc>
                <a:spcPct val="115000"/>
              </a:lnSpc>
            </a:pPr>
            <a:r>
              <a:rPr sz="4800" b="1">
                <a:solidFill>
                  <a:srgbClr val="C8102E"/>
                </a:solidFill>
                <a:latin typeface="Arial"/>
              </a:rPr>
              <a:t>42</a:t>
            </a:r>
          </a:p>
        </p:txBody>
      </p:sp>
      <p:sp>
        <p:nvSpPr>
          <p:cNvPr id="9" name="TextBox 8"/>
          <p:cNvSpPr txBox="1"/>
          <p:nvPr/>
        </p:nvSpPr>
        <p:spPr>
          <a:xfrm>
            <a:off x="4444898" y="3429000"/>
            <a:ext cx="3301898" cy="822960"/>
          </a:xfrm>
          <a:prstGeom prst="rect">
            <a:avLst/>
          </a:prstGeom>
          <a:noFill/>
        </p:spPr>
        <p:txBody>
          <a:bodyPr wrap="square" anchor="t" lIns="0" rIns="0" tIns="0" bIns="0">
            <a:spAutoFit/>
          </a:bodyPr>
          <a:lstStyle/>
          <a:p>
            <a:pPr algn="l">
              <a:lnSpc>
                <a:spcPct val="115000"/>
              </a:lnSpc>
            </a:pPr>
            <a:r>
              <a:rPr sz="1400" b="0">
                <a:solidFill>
                  <a:srgbClr val="1A1A1A"/>
                </a:solidFill>
                <a:latin typeface="Arial"/>
              </a:rPr>
              <a:t>correspondants incidents à désigner</a:t>
            </a:r>
          </a:p>
        </p:txBody>
      </p:sp>
      <p:sp>
        <p:nvSpPr>
          <p:cNvPr id="10" name="TextBox 9"/>
          <p:cNvSpPr txBox="1"/>
          <p:nvPr/>
        </p:nvSpPr>
        <p:spPr>
          <a:xfrm>
            <a:off x="8203996" y="2331720"/>
            <a:ext cx="3301898" cy="1005840"/>
          </a:xfrm>
          <a:prstGeom prst="rect">
            <a:avLst/>
          </a:prstGeom>
          <a:noFill/>
        </p:spPr>
        <p:txBody>
          <a:bodyPr wrap="square" anchor="t" lIns="0" rIns="0" tIns="0" bIns="0">
            <a:spAutoFit/>
          </a:bodyPr>
          <a:lstStyle/>
          <a:p>
            <a:pPr algn="l">
              <a:lnSpc>
                <a:spcPct val="115000"/>
              </a:lnSpc>
            </a:pPr>
            <a:r>
              <a:rPr sz="4800" b="1">
                <a:solidFill>
                  <a:srgbClr val="C8102E"/>
                </a:solidFill>
                <a:latin typeface="Arial"/>
              </a:rPr>
              <a:t>4</a:t>
            </a:r>
          </a:p>
        </p:txBody>
      </p:sp>
      <p:sp>
        <p:nvSpPr>
          <p:cNvPr id="11" name="TextBox 10"/>
          <p:cNvSpPr txBox="1"/>
          <p:nvPr/>
        </p:nvSpPr>
        <p:spPr>
          <a:xfrm>
            <a:off x="8203996" y="3429000"/>
            <a:ext cx="3301898" cy="822960"/>
          </a:xfrm>
          <a:prstGeom prst="rect">
            <a:avLst/>
          </a:prstGeom>
          <a:noFill/>
        </p:spPr>
        <p:txBody>
          <a:bodyPr wrap="square" anchor="t" lIns="0" rIns="0" tIns="0" bIns="0">
            <a:spAutoFit/>
          </a:bodyPr>
          <a:lstStyle/>
          <a:p>
            <a:pPr algn="l">
              <a:lnSpc>
                <a:spcPct val="115000"/>
              </a:lnSpc>
            </a:pPr>
            <a:r>
              <a:rPr sz="1400" b="0">
                <a:solidFill>
                  <a:srgbClr val="1A1A1A"/>
                </a:solidFill>
                <a:latin typeface="Arial"/>
              </a:rPr>
              <a:t>chantiers structurants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10820095" cy="868680"/>
          </a:xfrm>
          <a:prstGeom prst="rect">
            <a:avLst/>
          </a:prstGeom>
          <a:noFill/>
        </p:spPr>
        <p:txBody>
          <a:bodyPr wrap="square" anchor="t" lIns="0" rIns="0" tIns="0" bIns="0">
            <a:spAutoFit/>
          </a:bodyPr>
          <a:lstStyle/>
          <a:p>
            <a:pPr algn="l">
              <a:lnSpc>
                <a:spcPct val="115000"/>
              </a:lnSpc>
            </a:pPr>
            <a:r>
              <a:rPr sz="2100" b="1">
                <a:solidFill>
                  <a:srgbClr val="1B2A4A"/>
                </a:solidFill>
                <a:latin typeface="Arial"/>
              </a:rPr>
              <a:t>La trajectoire s'organise autour de quatre jalons de gouvernance</a:t>
            </a:r>
          </a:p>
        </p:txBody>
      </p:sp>
      <p:sp>
        <p:nvSpPr>
          <p:cNvPr id="3" name="TextBox 2"/>
          <p:cNvSpPr txBox="1"/>
          <p:nvPr/>
        </p:nvSpPr>
        <p:spPr>
          <a:xfrm>
            <a:off x="685800" y="6355080"/>
            <a:ext cx="9905695" cy="256032"/>
          </a:xfrm>
          <a:prstGeom prst="rect">
            <a:avLst/>
          </a:prstGeom>
          <a:noFill/>
        </p:spPr>
        <p:txBody>
          <a:bodyPr wrap="square" anchor="t" lIns="0" rIns="0" tIns="0" bIns="0">
            <a:spAutoFit/>
          </a:bodyPr>
          <a:lstStyle/>
          <a:p>
            <a:pPr algn="l">
              <a:lnSpc>
                <a:spcPct val="115000"/>
              </a:lnSpc>
            </a:pPr>
            <a:r>
              <a:rPr sz="900" b="0">
                <a:solidFill>
                  <a:srgbClr val="6B7280"/>
                </a:solidFill>
                <a:latin typeface="Arial"/>
              </a:rPr>
              <a:t>Document de travail — diffusion restreinte</a:t>
            </a:r>
          </a:p>
        </p:txBody>
      </p:sp>
      <p:sp>
        <p:nvSpPr>
          <p:cNvPr id="4" name="TextBox 3"/>
          <p:cNvSpPr txBox="1"/>
          <p:nvPr/>
        </p:nvSpPr>
        <p:spPr>
          <a:xfrm>
            <a:off x="10957255" y="6355080"/>
            <a:ext cx="548640" cy="256032"/>
          </a:xfrm>
          <a:prstGeom prst="rect">
            <a:avLst/>
          </a:prstGeom>
          <a:noFill/>
        </p:spPr>
        <p:txBody>
          <a:bodyPr wrap="square" anchor="t" lIns="0" rIns="0" tIns="0" bIns="0">
            <a:spAutoFit/>
          </a:bodyPr>
          <a:lstStyle/>
          <a:p>
            <a:pPr algn="r">
              <a:lnSpc>
                <a:spcPct val="115000"/>
              </a:lnSpc>
            </a:pPr>
            <a:r>
              <a:rPr sz="900" b="0">
                <a:solidFill>
                  <a:srgbClr val="6B7280"/>
                </a:solidFill>
                <a:latin typeface="Arial"/>
              </a:rPr>
              <a:t>8</a:t>
            </a:r>
          </a:p>
        </p:txBody>
      </p:sp>
      <p:sp>
        <p:nvSpPr>
          <p:cNvPr id="5" name="Rectangle 4"/>
          <p:cNvSpPr/>
          <p:nvPr/>
        </p:nvSpPr>
        <p:spPr>
          <a:xfrm>
            <a:off x="685800" y="2926080"/>
            <a:ext cx="10820095" cy="18288"/>
          </a:xfrm>
          <a:prstGeom prst="rect">
            <a:avLst/>
          </a:prstGeom>
          <a:solidFill>
            <a:srgbClr val="D9D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956015" y="2852928"/>
            <a:ext cx="164592" cy="16459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40280"/>
            <a:ext cx="2705023" cy="365760"/>
          </a:xfrm>
          <a:prstGeom prst="rect">
            <a:avLst/>
          </a:prstGeom>
          <a:noFill/>
        </p:spPr>
        <p:txBody>
          <a:bodyPr wrap="square" anchor="t" lIns="0" rIns="0" tIns="0" bIns="0">
            <a:spAutoFit/>
          </a:bodyPr>
          <a:lstStyle/>
          <a:p>
            <a:pPr algn="ctr">
              <a:lnSpc>
                <a:spcPct val="115000"/>
              </a:lnSpc>
            </a:pPr>
            <a:r>
              <a:rPr sz="1400" b="1">
                <a:solidFill>
                  <a:srgbClr val="1B2A4A"/>
                </a:solidFill>
                <a:latin typeface="Arial"/>
              </a:rPr>
              <a:t>T4 2026</a:t>
            </a:r>
          </a:p>
        </p:txBody>
      </p:sp>
      <p:sp>
        <p:nvSpPr>
          <p:cNvPr id="8" name="TextBox 7"/>
          <p:cNvSpPr txBox="1"/>
          <p:nvPr/>
        </p:nvSpPr>
        <p:spPr>
          <a:xfrm>
            <a:off x="822960" y="3246120"/>
            <a:ext cx="2430703" cy="1280160"/>
          </a:xfrm>
          <a:prstGeom prst="rect">
            <a:avLst/>
          </a:prstGeom>
          <a:noFill/>
        </p:spPr>
        <p:txBody>
          <a:bodyPr wrap="square" anchor="t" lIns="0" rIns="0" tIns="0" bIns="0">
            <a:spAutoFit/>
          </a:bodyPr>
          <a:lstStyle/>
          <a:p>
            <a:pPr algn="ctr">
              <a:lnSpc>
                <a:spcPct val="115000"/>
              </a:lnSpc>
            </a:pPr>
            <a:r>
              <a:rPr sz="1100" b="0">
                <a:solidFill>
                  <a:srgbClr val="1A1A1A"/>
                </a:solidFill>
                <a:latin typeface="Arial"/>
              </a:rPr>
              <a:t>Validation du seuil par le comité des risques</a:t>
            </a:r>
          </a:p>
        </p:txBody>
      </p:sp>
      <p:sp>
        <p:nvSpPr>
          <p:cNvPr id="9" name="Oval 8"/>
          <p:cNvSpPr/>
          <p:nvPr/>
        </p:nvSpPr>
        <p:spPr>
          <a:xfrm>
            <a:off x="4661039" y="2852928"/>
            <a:ext cx="164592" cy="16459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90823" y="2240280"/>
            <a:ext cx="2705023" cy="365760"/>
          </a:xfrm>
          <a:prstGeom prst="rect">
            <a:avLst/>
          </a:prstGeom>
          <a:noFill/>
        </p:spPr>
        <p:txBody>
          <a:bodyPr wrap="square" anchor="t" lIns="0" rIns="0" tIns="0" bIns="0">
            <a:spAutoFit/>
          </a:bodyPr>
          <a:lstStyle/>
          <a:p>
            <a:pPr algn="ctr">
              <a:lnSpc>
                <a:spcPct val="115000"/>
              </a:lnSpc>
            </a:pPr>
            <a:r>
              <a:rPr sz="1400" b="1">
                <a:solidFill>
                  <a:srgbClr val="1B2A4A"/>
                </a:solidFill>
                <a:latin typeface="Arial"/>
              </a:rPr>
              <a:t>T1 2027</a:t>
            </a:r>
          </a:p>
        </p:txBody>
      </p:sp>
      <p:sp>
        <p:nvSpPr>
          <p:cNvPr id="11" name="TextBox 10"/>
          <p:cNvSpPr txBox="1"/>
          <p:nvPr/>
        </p:nvSpPr>
        <p:spPr>
          <a:xfrm>
            <a:off x="3527983" y="3246120"/>
            <a:ext cx="2430703" cy="1280160"/>
          </a:xfrm>
          <a:prstGeom prst="rect">
            <a:avLst/>
          </a:prstGeom>
          <a:noFill/>
        </p:spPr>
        <p:txBody>
          <a:bodyPr wrap="square" anchor="t" lIns="0" rIns="0" tIns="0" bIns="0">
            <a:spAutoFit/>
          </a:bodyPr>
          <a:lstStyle/>
          <a:p>
            <a:pPr algn="ctr">
              <a:lnSpc>
                <a:spcPct val="115000"/>
              </a:lnSpc>
            </a:pPr>
            <a:r>
              <a:rPr sz="1100" b="0">
                <a:solidFill>
                  <a:srgbClr val="1A1A1A"/>
                </a:solidFill>
                <a:latin typeface="Arial"/>
              </a:rPr>
              <a:t>Désignation et formation des correspondants</a:t>
            </a:r>
          </a:p>
        </p:txBody>
      </p:sp>
      <p:sp>
        <p:nvSpPr>
          <p:cNvPr id="12" name="Oval 11"/>
          <p:cNvSpPr/>
          <p:nvPr/>
        </p:nvSpPr>
        <p:spPr>
          <a:xfrm>
            <a:off x="7366063" y="2852928"/>
            <a:ext cx="164592" cy="16459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5847" y="2240280"/>
            <a:ext cx="2705023" cy="365760"/>
          </a:xfrm>
          <a:prstGeom prst="rect">
            <a:avLst/>
          </a:prstGeom>
          <a:noFill/>
        </p:spPr>
        <p:txBody>
          <a:bodyPr wrap="square" anchor="t" lIns="0" rIns="0" tIns="0" bIns="0">
            <a:spAutoFit/>
          </a:bodyPr>
          <a:lstStyle/>
          <a:p>
            <a:pPr algn="ctr">
              <a:lnSpc>
                <a:spcPct val="115000"/>
              </a:lnSpc>
            </a:pPr>
            <a:r>
              <a:rPr sz="1400" b="1">
                <a:solidFill>
                  <a:srgbClr val="1B2A4A"/>
                </a:solidFill>
                <a:latin typeface="Arial"/>
              </a:rPr>
              <a:t>T3 2027</a:t>
            </a:r>
          </a:p>
        </p:txBody>
      </p:sp>
      <p:sp>
        <p:nvSpPr>
          <p:cNvPr id="14" name="TextBox 13"/>
          <p:cNvSpPr txBox="1"/>
          <p:nvPr/>
        </p:nvSpPr>
        <p:spPr>
          <a:xfrm>
            <a:off x="6233007" y="3246120"/>
            <a:ext cx="2430703" cy="1280160"/>
          </a:xfrm>
          <a:prstGeom prst="rect">
            <a:avLst/>
          </a:prstGeom>
          <a:noFill/>
        </p:spPr>
        <p:txBody>
          <a:bodyPr wrap="square" anchor="t" lIns="0" rIns="0" tIns="0" bIns="0">
            <a:spAutoFit/>
          </a:bodyPr>
          <a:lstStyle/>
          <a:p>
            <a:pPr algn="ctr">
              <a:lnSpc>
                <a:spcPct val="115000"/>
              </a:lnSpc>
            </a:pPr>
            <a:r>
              <a:rPr sz="1100" b="0">
                <a:solidFill>
                  <a:srgbClr val="1A1A1A"/>
                </a:solidFill>
                <a:latin typeface="Arial"/>
              </a:rPr>
              <a:t>Raccordement de la supervision SI</a:t>
            </a:r>
          </a:p>
        </p:txBody>
      </p:sp>
      <p:sp>
        <p:nvSpPr>
          <p:cNvPr id="15" name="Oval 14"/>
          <p:cNvSpPr/>
          <p:nvPr/>
        </p:nvSpPr>
        <p:spPr>
          <a:xfrm>
            <a:off x="10071087" y="2852928"/>
            <a:ext cx="164592" cy="16459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00871" y="2240280"/>
            <a:ext cx="2705023" cy="365760"/>
          </a:xfrm>
          <a:prstGeom prst="rect">
            <a:avLst/>
          </a:prstGeom>
          <a:noFill/>
        </p:spPr>
        <p:txBody>
          <a:bodyPr wrap="square" anchor="t" lIns="0" rIns="0" tIns="0" bIns="0">
            <a:spAutoFit/>
          </a:bodyPr>
          <a:lstStyle/>
          <a:p>
            <a:pPr algn="ctr">
              <a:lnSpc>
                <a:spcPct val="115000"/>
              </a:lnSpc>
            </a:pPr>
            <a:r>
              <a:rPr sz="1400" b="1">
                <a:solidFill>
                  <a:srgbClr val="1B2A4A"/>
                </a:solidFill>
                <a:latin typeface="Arial"/>
              </a:rPr>
              <a:t>T1 2028</a:t>
            </a:r>
          </a:p>
        </p:txBody>
      </p:sp>
      <p:sp>
        <p:nvSpPr>
          <p:cNvPr id="17" name="TextBox 16"/>
          <p:cNvSpPr txBox="1"/>
          <p:nvPr/>
        </p:nvSpPr>
        <p:spPr>
          <a:xfrm>
            <a:off x="8938031" y="3246120"/>
            <a:ext cx="2430703" cy="1280160"/>
          </a:xfrm>
          <a:prstGeom prst="rect">
            <a:avLst/>
          </a:prstGeom>
          <a:noFill/>
        </p:spPr>
        <p:txBody>
          <a:bodyPr wrap="square" anchor="t" lIns="0" rIns="0" tIns="0" bIns="0">
            <a:spAutoFit/>
          </a:bodyPr>
          <a:lstStyle/>
          <a:p>
            <a:pPr algn="ctr">
              <a:lnSpc>
                <a:spcPct val="115000"/>
              </a:lnSpc>
            </a:pPr>
            <a:r>
              <a:rPr sz="1100" b="0">
                <a:solidFill>
                  <a:srgbClr val="1A1A1A"/>
                </a:solidFill>
                <a:latin typeface="Arial"/>
              </a:rPr>
              <a:t>Premier reporting au format cible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66928"/>
            <a:ext cx="10820095" cy="868680"/>
          </a:xfrm>
          <a:prstGeom prst="rect">
            <a:avLst/>
          </a:prstGeom>
          <a:noFill/>
        </p:spPr>
        <p:txBody>
          <a:bodyPr wrap="square" anchor="t" lIns="0" rIns="0" tIns="0" bIns="0">
            <a:spAutoFit/>
          </a:bodyPr>
          <a:lstStyle/>
          <a:p>
            <a:pPr algn="l">
              <a:lnSpc>
                <a:spcPct val="115000"/>
              </a:lnSpc>
            </a:pPr>
            <a:r>
              <a:rPr sz="2100" b="1">
                <a:solidFill>
                  <a:srgbClr val="1B2A4A"/>
                </a:solidFill>
                <a:latin typeface="Arial"/>
              </a:rPr>
              <a:t>Trois décisions sont attendues du comité des risques</a:t>
            </a:r>
          </a:p>
        </p:txBody>
      </p:sp>
      <p:sp>
        <p:nvSpPr>
          <p:cNvPr id="3" name="TextBox 2"/>
          <p:cNvSpPr txBox="1"/>
          <p:nvPr/>
        </p:nvSpPr>
        <p:spPr>
          <a:xfrm>
            <a:off x="685800" y="6355080"/>
            <a:ext cx="9905695" cy="256032"/>
          </a:xfrm>
          <a:prstGeom prst="rect">
            <a:avLst/>
          </a:prstGeom>
          <a:noFill/>
        </p:spPr>
        <p:txBody>
          <a:bodyPr wrap="square" anchor="t" lIns="0" rIns="0" tIns="0" bIns="0">
            <a:spAutoFit/>
          </a:bodyPr>
          <a:lstStyle/>
          <a:p>
            <a:pPr algn="l">
              <a:lnSpc>
                <a:spcPct val="115000"/>
              </a:lnSpc>
            </a:pPr>
            <a:r>
              <a:rPr sz="900" b="0">
                <a:solidFill>
                  <a:srgbClr val="6B7280"/>
                </a:solidFill>
                <a:latin typeface="Arial"/>
              </a:rPr>
              <a:t>Document de travail — diffusion restreinte</a:t>
            </a:r>
          </a:p>
        </p:txBody>
      </p:sp>
      <p:sp>
        <p:nvSpPr>
          <p:cNvPr id="4" name="TextBox 3"/>
          <p:cNvSpPr txBox="1"/>
          <p:nvPr/>
        </p:nvSpPr>
        <p:spPr>
          <a:xfrm>
            <a:off x="10957255" y="6355080"/>
            <a:ext cx="548640" cy="256032"/>
          </a:xfrm>
          <a:prstGeom prst="rect">
            <a:avLst/>
          </a:prstGeom>
          <a:noFill/>
        </p:spPr>
        <p:txBody>
          <a:bodyPr wrap="square" anchor="t" lIns="0" rIns="0" tIns="0" bIns="0">
            <a:spAutoFit/>
          </a:bodyPr>
          <a:lstStyle/>
          <a:p>
            <a:pPr algn="r">
              <a:lnSpc>
                <a:spcPct val="115000"/>
              </a:lnSpc>
            </a:pPr>
            <a:r>
              <a:rPr sz="900" b="0">
                <a:solidFill>
                  <a:srgbClr val="6B7280"/>
                </a:solidFill>
                <a:latin typeface="Arial"/>
              </a:rPr>
              <a:t>9</a:t>
            </a:r>
          </a:p>
        </p:txBody>
      </p:sp>
      <p:sp>
        <p:nvSpPr>
          <p:cNvPr id="5" name="TextBox 4"/>
          <p:cNvSpPr txBox="1"/>
          <p:nvPr/>
        </p:nvSpPr>
        <p:spPr>
          <a:xfrm>
            <a:off x="685800" y="1645920"/>
            <a:ext cx="548640" cy="548640"/>
          </a:xfrm>
          <a:prstGeom prst="rect">
            <a:avLst/>
          </a:prstGeom>
          <a:noFill/>
        </p:spPr>
        <p:txBody>
          <a:bodyPr wrap="square" anchor="t" lIns="0" rIns="0" tIns="0" bIns="0">
            <a:spAutoFit/>
          </a:bodyPr>
          <a:lstStyle/>
          <a:p>
            <a:pPr algn="l">
              <a:lnSpc>
                <a:spcPct val="115000"/>
              </a:lnSpc>
            </a:pPr>
            <a:r>
              <a:rPr sz="2400" b="1">
                <a:solidFill>
                  <a:srgbClr val="C8102E"/>
                </a:solidFill>
                <a:latin typeface="Arial"/>
              </a:rPr>
              <a:t>1</a:t>
            </a:r>
          </a:p>
        </p:txBody>
      </p:sp>
      <p:sp>
        <p:nvSpPr>
          <p:cNvPr id="6" name="TextBox 5"/>
          <p:cNvSpPr txBox="1"/>
          <p:nvPr/>
        </p:nvSpPr>
        <p:spPr>
          <a:xfrm>
            <a:off x="1280160" y="1691640"/>
            <a:ext cx="10042855" cy="320040"/>
          </a:xfrm>
          <a:prstGeom prst="rect">
            <a:avLst/>
          </a:prstGeom>
          <a:noFill/>
        </p:spPr>
        <p:txBody>
          <a:bodyPr wrap="square" anchor="t" lIns="0" rIns="0" tIns="0" bIns="0">
            <a:spAutoFit/>
          </a:bodyPr>
          <a:lstStyle/>
          <a:p>
            <a:pPr algn="l">
              <a:lnSpc>
                <a:spcPct val="115000"/>
              </a:lnSpc>
            </a:pPr>
            <a:r>
              <a:rPr sz="1500" b="1">
                <a:solidFill>
                  <a:srgbClr val="1B2A4A"/>
                </a:solidFill>
                <a:latin typeface="Arial"/>
              </a:rPr>
              <a:t>Arrêter le seuil de significativité</a:t>
            </a:r>
          </a:p>
        </p:txBody>
      </p:sp>
      <p:sp>
        <p:nvSpPr>
          <p:cNvPr id="7" name="TextBox 6"/>
          <p:cNvSpPr txBox="1"/>
          <p:nvPr/>
        </p:nvSpPr>
        <p:spPr>
          <a:xfrm>
            <a:off x="1280160" y="2039112"/>
            <a:ext cx="10042855" cy="546608"/>
          </a:xfrm>
          <a:prstGeom prst="rect">
            <a:avLst/>
          </a:prstGeom>
          <a:noFill/>
        </p:spPr>
        <p:txBody>
          <a:bodyPr wrap="square" anchor="t" lIns="0" rIns="0" tIns="0" bIns="0">
            <a:spAutoFit/>
          </a:bodyPr>
          <a:lstStyle/>
          <a:p>
            <a:pPr algn="l">
              <a:lnSpc>
                <a:spcPct val="115000"/>
              </a:lnSpc>
            </a:pPr>
            <a:r>
              <a:rPr sz="1400" b="0">
                <a:solidFill>
                  <a:srgbClr val="1A1A1A"/>
                </a:solidFill>
                <a:latin typeface="Arial"/>
              </a:rPr>
              <a:t>Retenir un seuil aligné sur l'appétence au risque déjà approuvée, et le documenter comme paramètre réglementaire opposable.</a:t>
            </a:r>
          </a:p>
        </p:txBody>
      </p:sp>
      <p:sp>
        <p:nvSpPr>
          <p:cNvPr id="8" name="TextBox 7"/>
          <p:cNvSpPr txBox="1"/>
          <p:nvPr/>
        </p:nvSpPr>
        <p:spPr>
          <a:xfrm>
            <a:off x="685800" y="2860040"/>
            <a:ext cx="548640" cy="548640"/>
          </a:xfrm>
          <a:prstGeom prst="rect">
            <a:avLst/>
          </a:prstGeom>
          <a:noFill/>
        </p:spPr>
        <p:txBody>
          <a:bodyPr wrap="square" anchor="t" lIns="0" rIns="0" tIns="0" bIns="0">
            <a:spAutoFit/>
          </a:bodyPr>
          <a:lstStyle/>
          <a:p>
            <a:pPr algn="l">
              <a:lnSpc>
                <a:spcPct val="115000"/>
              </a:lnSpc>
            </a:pPr>
            <a:r>
              <a:rPr sz="2400" b="1">
                <a:solidFill>
                  <a:srgbClr val="C8102E"/>
                </a:solidFill>
                <a:latin typeface="Arial"/>
              </a:rPr>
              <a:t>2</a:t>
            </a:r>
          </a:p>
        </p:txBody>
      </p:sp>
      <p:sp>
        <p:nvSpPr>
          <p:cNvPr id="9" name="TextBox 8"/>
          <p:cNvSpPr txBox="1"/>
          <p:nvPr/>
        </p:nvSpPr>
        <p:spPr>
          <a:xfrm>
            <a:off x="1280160" y="2905760"/>
            <a:ext cx="10042855" cy="320040"/>
          </a:xfrm>
          <a:prstGeom prst="rect">
            <a:avLst/>
          </a:prstGeom>
          <a:noFill/>
        </p:spPr>
        <p:txBody>
          <a:bodyPr wrap="square" anchor="t" lIns="0" rIns="0" tIns="0" bIns="0">
            <a:spAutoFit/>
          </a:bodyPr>
          <a:lstStyle/>
          <a:p>
            <a:pPr algn="l">
              <a:lnSpc>
                <a:spcPct val="115000"/>
              </a:lnSpc>
            </a:pPr>
            <a:r>
              <a:rPr sz="1500" b="1">
                <a:solidFill>
                  <a:srgbClr val="1B2A4A"/>
                </a:solidFill>
                <a:latin typeface="Arial"/>
              </a:rPr>
              <a:t>Mandater la DSI sur l'horodatage</a:t>
            </a:r>
          </a:p>
        </p:txBody>
      </p:sp>
      <p:sp>
        <p:nvSpPr>
          <p:cNvPr id="10" name="TextBox 9"/>
          <p:cNvSpPr txBox="1"/>
          <p:nvPr/>
        </p:nvSpPr>
        <p:spPr>
          <a:xfrm>
            <a:off x="1280160" y="3253232"/>
            <a:ext cx="10042855" cy="546608"/>
          </a:xfrm>
          <a:prstGeom prst="rect">
            <a:avLst/>
          </a:prstGeom>
          <a:noFill/>
        </p:spPr>
        <p:txBody>
          <a:bodyPr wrap="square" anchor="t" lIns="0" rIns="0" tIns="0" bIns="0">
            <a:spAutoFit/>
          </a:bodyPr>
          <a:lstStyle/>
          <a:p>
            <a:pPr algn="l">
              <a:lnSpc>
                <a:spcPct val="115000"/>
              </a:lnSpc>
            </a:pPr>
            <a:r>
              <a:rPr sz="1400" b="0">
                <a:solidFill>
                  <a:srgbClr val="1A1A1A"/>
                </a:solidFill>
                <a:latin typeface="Arial"/>
              </a:rPr>
              <a:t>Le raccordement de la supervision technique conditionne la mesure de l'indisponibilité, donc la qualification des incidents.</a:t>
            </a:r>
          </a:p>
        </p:txBody>
      </p:sp>
      <p:sp>
        <p:nvSpPr>
          <p:cNvPr id="11" name="TextBox 10"/>
          <p:cNvSpPr txBox="1"/>
          <p:nvPr/>
        </p:nvSpPr>
        <p:spPr>
          <a:xfrm>
            <a:off x="685800" y="4074160"/>
            <a:ext cx="548640" cy="548640"/>
          </a:xfrm>
          <a:prstGeom prst="rect">
            <a:avLst/>
          </a:prstGeom>
          <a:noFill/>
        </p:spPr>
        <p:txBody>
          <a:bodyPr wrap="square" anchor="t" lIns="0" rIns="0" tIns="0" bIns="0">
            <a:spAutoFit/>
          </a:bodyPr>
          <a:lstStyle/>
          <a:p>
            <a:pPr algn="l">
              <a:lnSpc>
                <a:spcPct val="115000"/>
              </a:lnSpc>
            </a:pPr>
            <a:r>
              <a:rPr sz="2400" b="1">
                <a:solidFill>
                  <a:srgbClr val="C8102E"/>
                </a:solidFill>
                <a:latin typeface="Arial"/>
              </a:rPr>
              <a:t>3</a:t>
            </a:r>
          </a:p>
        </p:txBody>
      </p:sp>
      <p:sp>
        <p:nvSpPr>
          <p:cNvPr id="12" name="TextBox 11"/>
          <p:cNvSpPr txBox="1"/>
          <p:nvPr/>
        </p:nvSpPr>
        <p:spPr>
          <a:xfrm>
            <a:off x="1280160" y="4119880"/>
            <a:ext cx="10042855" cy="320040"/>
          </a:xfrm>
          <a:prstGeom prst="rect">
            <a:avLst/>
          </a:prstGeom>
          <a:noFill/>
        </p:spPr>
        <p:txBody>
          <a:bodyPr wrap="square" anchor="t" lIns="0" rIns="0" tIns="0" bIns="0">
            <a:spAutoFit/>
          </a:bodyPr>
          <a:lstStyle/>
          <a:p>
            <a:pPr algn="l">
              <a:lnSpc>
                <a:spcPct val="115000"/>
              </a:lnSpc>
            </a:pPr>
            <a:r>
              <a:rPr sz="1500" b="1">
                <a:solidFill>
                  <a:srgbClr val="1B2A4A"/>
                </a:solidFill>
                <a:latin typeface="Arial"/>
              </a:rPr>
              <a:t>Valider le calendrier de déploiement</a:t>
            </a:r>
          </a:p>
        </p:txBody>
      </p:sp>
      <p:sp>
        <p:nvSpPr>
          <p:cNvPr id="13" name="TextBox 12"/>
          <p:cNvSpPr txBox="1"/>
          <p:nvPr/>
        </p:nvSpPr>
        <p:spPr>
          <a:xfrm>
            <a:off x="1280160" y="4467352"/>
            <a:ext cx="10042855" cy="319024"/>
          </a:xfrm>
          <a:prstGeom prst="rect">
            <a:avLst/>
          </a:prstGeom>
          <a:noFill/>
        </p:spPr>
        <p:txBody>
          <a:bodyPr wrap="square" anchor="t" lIns="0" rIns="0" tIns="0" bIns="0">
            <a:spAutoFit/>
          </a:bodyPr>
          <a:lstStyle/>
          <a:p>
            <a:pPr algn="l">
              <a:lnSpc>
                <a:spcPct val="115000"/>
              </a:lnSpc>
            </a:pPr>
            <a:r>
              <a:rPr sz="1400" b="0">
                <a:solidFill>
                  <a:srgbClr val="1A1A1A"/>
                </a:solidFill>
                <a:latin typeface="Arial"/>
              </a:rPr>
              <a:t>La trajectoire proposée laisse six mois de marge avant l'échéance réglementaire.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